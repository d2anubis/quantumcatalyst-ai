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0080"/>
            <a:ext cx="411480" cy="411480"/>
          </a:xfrm>
          <a:prstGeom prst="rect">
            <a:avLst/>
          </a:prstGeom>
          <a:solidFill>
            <a:srgbClr val="04222E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59436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D3EE"/>
                </a:solidFill>
                <a:latin typeface="Calibri"/>
              </a:rPr>
              <a:t>Quantum</a:t>
            </a:r>
            <a:r>
              <a:rPr sz="1600" b="1">
                <a:solidFill>
                  <a:srgbClr val="E2E8F0"/>
                </a:solidFill>
                <a:latin typeface="Calibri"/>
              </a:rPr>
              <a:t>Catalyst </a:t>
            </a:r>
            <a:r>
              <a:rPr sz="1600" b="1">
                <a:solidFill>
                  <a:srgbClr val="22D3EE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INDUSTRIAL R&amp;D ACCELERATOR  ·  SUSTAINABLE FUELS &amp; CATALYSIS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2E8F0"/>
                </a:solidFill>
                <a:latin typeface="Calibri"/>
              </a:rPr>
              <a:t>The Operating System
for Catalyst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 continuously learning </a:t>
            </a:r>
            <a:r>
              <a:rPr sz="1600" b="1">
                <a:solidFill>
                  <a:srgbClr val="22D3EE"/>
                </a:solidFill>
                <a:latin typeface="Calibri"/>
              </a:rPr>
              <a:t>AI</a:t>
            </a:r>
            <a:r>
              <a:rPr sz="1600" b="0">
                <a:solidFill>
                  <a:srgbClr val="94A3B8"/>
                </a:solidFill>
                <a:latin typeface="Calibri"/>
              </a:rPr>
              <a:t>-native scientific discovery platform that compresses
6–18 months of catalyst screening into a single pipeline run measured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074920"/>
            <a:ext cx="2651760" cy="310896"/>
          </a:xfrm>
          <a:prstGeom prst="rect">
            <a:avLst/>
          </a:prstGeom>
          <a:solidFill>
            <a:srgbClr val="041A1D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114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Quantum Energy Profiling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074920"/>
            <a:ext cx="2651760" cy="310896"/>
          </a:xfrm>
          <a:prstGeom prst="rect">
            <a:avLst/>
          </a:prstGeom>
          <a:solidFill>
            <a:srgbClr val="110B1E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1114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Generative AI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5074920"/>
            <a:ext cx="2651760" cy="310896"/>
          </a:xfrm>
          <a:prstGeom prst="rect">
            <a:avLst/>
          </a:prstGeom>
          <a:solidFill>
            <a:srgbClr val="02171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1114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Closed-Loop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5074920"/>
            <a:ext cx="2651760" cy="310896"/>
          </a:xfrm>
          <a:prstGeom prst="rect">
            <a:avLst/>
          </a:prstGeom>
          <a:solidFill>
            <a:srgbClr val="1E1301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1114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AI Hypothesis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15000"/>
            <a:ext cx="11091672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52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37A"/>
                </a:solidFill>
                <a:latin typeface="Calibri"/>
              </a:rPr>
              <a:t>Live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80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urier New"/>
              </a:rPr>
              <a:t>quantum-catalyst-ai.vercel.app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852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37A"/>
                </a:solidFill>
                <a:latin typeface="Calibri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urier New"/>
              </a:rPr>
              <a:t>github.com/d2Anubis/QuantumCatalyst-AI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THE INDUSTRIAL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2E8F0"/>
                </a:solidFill>
                <a:latin typeface="Calibri"/>
              </a:rPr>
              <a:t>Catalyst discovery is broken
at industrial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761488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6–18 months per lead catalyst in traditional high-throughput screening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73552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20954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DFT errors in transition-metal systems — exactly where the best catalysts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85616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216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Broken feedback loop — lab results never reach the computational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297680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33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No reasoning layer — engineers get scores, not explanations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09744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7457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Fragmented institutional knowledge — every failed experiment is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86000"/>
            <a:ext cx="5029200" cy="1234440"/>
          </a:xfrm>
          <a:prstGeom prst="rect">
            <a:avLst/>
          </a:prstGeom>
          <a:solidFill>
            <a:srgbClr val="0A1426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14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Biogas Upgrading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70662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H₂S poisons amine solvents. No rapid sorbent replacement screening tool exists.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03320"/>
            <a:ext cx="5029200" cy="1234440"/>
          </a:xfrm>
          <a:prstGeom prst="rect">
            <a:avLst/>
          </a:prstGeom>
          <a:solidFill>
            <a:srgbClr val="0A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313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Biomethane → Green Hydrogen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2394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Ni-based SMR catalysts coke above 750°C. Better promoters needed at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120640"/>
            <a:ext cx="5029200" cy="1234440"/>
          </a:xfrm>
          <a:prstGeom prst="rect">
            <a:avLst/>
          </a:prstGeom>
          <a:solidFill>
            <a:srgbClr val="0A142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248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Sabatier CO₂ Methanation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54126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Ni/Al₂O₃ thermal management unsolved at scale. Runaway risk in fixed-bed reactors.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943600"/>
            <a:ext cx="45720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2E8F0"/>
                </a:solidFill>
                <a:latin typeface="Calibri"/>
              </a:rPr>
              <a:t>The real bottleneck is not lack of data — it's the inability to convert experimental outcomes into continuously improving scientific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03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2E8F0"/>
                </a:solidFill>
                <a:latin typeface="Calibri"/>
              </a:rPr>
              <a:t>An </a:t>
            </a:r>
            <a:r>
              <a:rPr sz="3600" b="1">
                <a:solidFill>
                  <a:srgbClr val="22D3EE"/>
                </a:solidFill>
                <a:latin typeface="Calibri"/>
              </a:rPr>
              <a:t>AI</a:t>
            </a:r>
            <a:r>
              <a:rPr sz="3600" b="1">
                <a:solidFill>
                  <a:srgbClr val="E2E8F0"/>
                </a:solidFill>
                <a:latin typeface="Calibri"/>
              </a:rPr>
              <a:t>-native scientific discovery
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Quantum</a:t>
            </a:r>
            <a:r>
              <a:rPr sz="1400" b="0">
                <a:solidFill>
                  <a:srgbClr val="94A3B8"/>
                </a:solidFill>
                <a:latin typeface="Calibri"/>
              </a:rPr>
              <a:t>Catalyst </a:t>
            </a:r>
            <a:r>
              <a:rPr sz="1400" b="1">
                <a:solidFill>
                  <a:srgbClr val="22D3EE"/>
                </a:solidFill>
                <a:latin typeface="Calibri"/>
              </a:rPr>
              <a:t>AI</a:t>
            </a:r>
            <a:r>
              <a:rPr sz="1400" b="0">
                <a:solidFill>
                  <a:srgbClr val="94A3B8"/>
                </a:solidFill>
                <a:latin typeface="Calibri"/>
              </a:rPr>
              <a:t> combines quantum energy profiling, generative candidate design, and a closed-loop learning architecture into a single platform any field engineer can operate — no quantum chemistry PhD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91840"/>
            <a:ext cx="3657600" cy="3108960"/>
          </a:xfrm>
          <a:prstGeom prst="rect">
            <a:avLst/>
          </a:prstGeom>
          <a:solidFill>
            <a:srgbClr val="0A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56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Quantum</a:t>
            </a:r>
            <a:r>
              <a:rPr sz="1600" b="1">
                <a:solidFill>
                  <a:srgbClr val="E2E8F0"/>
                </a:solidFill>
                <a:latin typeface="Calibri"/>
              </a:rPr>
              <a:t> Energy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VQE-inspired simulation evaluates transition-metal catalyst descriptors with higher electron-correlation fidelity than classical DFT. Drop-in replaceable with real IBM </a:t>
            </a:r>
            <a:r>
              <a:rPr sz="1200" b="1">
                <a:solidFill>
                  <a:srgbClr val="22D3EE"/>
                </a:solidFill>
                <a:latin typeface="Calibri"/>
              </a:rPr>
              <a:t>Quantum</a:t>
            </a:r>
            <a:r>
              <a:rPr sz="1200" b="0">
                <a:solidFill>
                  <a:srgbClr val="94A3B8"/>
                </a:solidFill>
                <a:latin typeface="Calibri"/>
              </a:rPr>
              <a:t> / AWS Braket backend — zero UI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9704" y="3291840"/>
            <a:ext cx="3657600" cy="3108960"/>
          </a:xfrm>
          <a:prstGeom prst="rect">
            <a:avLst/>
          </a:prstGeom>
          <a:solidFill>
            <a:srgbClr val="0A142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3456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Calibri"/>
              </a:rPr>
              <a:t>Generative </a:t>
            </a:r>
            <a:r>
              <a:rPr sz="1600" b="1">
                <a:solidFill>
                  <a:srgbClr val="22D3EE"/>
                </a:solidFill>
                <a:latin typeface="Calibri"/>
              </a:rPr>
              <a:t>AI</a:t>
            </a:r>
            <a:r>
              <a:rPr sz="1600" b="1">
                <a:solidFill>
                  <a:srgbClr val="E2E8F0"/>
                </a:solidFill>
                <a:latin typeface="Calibri"/>
              </a:rPr>
              <a:t>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Diffusion-inspired generative step proposes 6 novel alloy variants per run by mutating top performers in the latent descriptor space — exploring beyond the known chemical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5048" y="3291840"/>
            <a:ext cx="3657600" cy="3108960"/>
          </a:xfrm>
          <a:prstGeom prst="rect">
            <a:avLst/>
          </a:prstGeom>
          <a:solidFill>
            <a:srgbClr val="0A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456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Calibri"/>
              </a:rPr>
              <a:t>Continuous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51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Bayesian bias-update loop learns from every lab result submitted. Each experiment shifts activity, selectivity, and stability predictions closer to reality — permanently.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04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Calibri"/>
              </a:rPr>
              <a:t>The 6-step discovery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From reaction selection to ranked, ready-to-test candidates in under one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658368" cy="658368"/>
          </a:xfrm>
          <a:prstGeom prst="rect">
            <a:avLst/>
          </a:prstGeom>
          <a:solidFill>
            <a:srgbClr val="041A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Reaction
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7864" y="2523744"/>
            <a:ext cx="25603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2240280"/>
            <a:ext cx="658368" cy="658368"/>
          </a:xfrm>
          <a:prstGeom prst="rect">
            <a:avLst/>
          </a:prstGeom>
          <a:solidFill>
            <a:srgbClr val="041A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Database
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824" y="2523744"/>
            <a:ext cx="25603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240280"/>
            <a:ext cx="658368" cy="658368"/>
          </a:xfrm>
          <a:prstGeom prst="rect">
            <a:avLst/>
          </a:prstGeom>
          <a:solidFill>
            <a:srgbClr val="110B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VQE
Simulation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2523744"/>
            <a:ext cx="25603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658368" cy="658368"/>
          </a:xfrm>
          <a:prstGeom prst="rect">
            <a:avLst/>
          </a:prstGeom>
          <a:solidFill>
            <a:srgbClr val="1E130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Generative
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2523744"/>
            <a:ext cx="25603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2240280"/>
            <a:ext cx="658368" cy="658368"/>
          </a:xfrm>
          <a:prstGeom prst="rect">
            <a:avLst/>
          </a:prstGeom>
          <a:solidFill>
            <a:srgbClr val="07101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Multi-obj.
Ranking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61704" y="2523744"/>
            <a:ext cx="25603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32720" y="2240280"/>
            <a:ext cx="658368" cy="658368"/>
          </a:xfrm>
          <a:prstGeom prst="rect">
            <a:avLst/>
          </a:prstGeom>
          <a:solidFill>
            <a:srgbClr val="0217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240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9008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Experimental
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749040"/>
            <a:ext cx="54864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Steps 1–2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Engineer selects a reaction. Conditions auto-populate from seeded reaction templates (biogas upgrading, SMR, Sabatier, waste-to-biogas).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66360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49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VQE energy profiler computes ground-state energies, activation barriers (C–C formation, H-transfer, O-removal), and per-candidate confidence scores.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4904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Top database catalysts seed a generative step — 6 novel alloy variants per run, with novelty scores tracking deviation from known space.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16636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Steps 5–6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49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Pareto ranking across activity / selectivity / stability. Lab results update the model via online Bayesian bias update — each run is smarter.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05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BUILT-IN REACTION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Four operational reactions. Pre-seeded. Ready on day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48640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39111"/>
            <a:ext cx="1005840" cy="219456"/>
          </a:xfrm>
          <a:prstGeom prst="rect">
            <a:avLst/>
          </a:prstGeom>
          <a:solidFill>
            <a:srgbClr val="0217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48255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Biogas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Calibri"/>
              </a:rPr>
              <a:t>Biogas Upgrading → Biomethane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ourier New"/>
              </a:rPr>
              <a:t>25–40°C · 5–10 bar · Raw biogas (CH₄ 60%, CO₂ 38%, H₂S 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3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Top: K₂CO₃-Alumina Sorbent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Activity 96.3% · Selectivity 97.1%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48640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039111"/>
            <a:ext cx="1005840" cy="219456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048255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Hydrogen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000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Calibri"/>
              </a:rPr>
              <a:t>Biomethane → Green Hydrogen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ourier New"/>
              </a:rPr>
              <a:t>800–900°C · 20–30 bar · Biomethane (97% CH₄)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003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Top: Ni-CeO₂ Reforming Catalyst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3872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Activity 89.4% · Stability 74.1%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548640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07992"/>
            <a:ext cx="1005840" cy="219456"/>
          </a:xfrm>
          <a:prstGeom prst="rect">
            <a:avLst/>
          </a:prstGeom>
          <a:solidFill>
            <a:srgbClr val="1E1301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517136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Methanation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18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Calibri"/>
              </a:rPr>
              <a:t>Biogas CO₂ → Synthetic Methane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ourier New"/>
              </a:rPr>
              <a:t>280–350°C · 5–20 bar · CO₂ + Renewable H₂ (4:1)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Top: Ni-Al₂O₃ Methanation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07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Addresses thermal runaway in Sabatier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343400"/>
            <a:ext cx="548640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4507992"/>
            <a:ext cx="1005840" cy="219456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517136"/>
            <a:ext cx="969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Waste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18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Calibri"/>
              </a:rPr>
              <a:t>Organic Waste → Biogas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ourier New"/>
              </a:rPr>
              <a:t>35–37°C · 1 atm · Agri / organic waste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669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Top: Ru-Zeolite Methanogen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007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Addresses lignocellulose hydrolysis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06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NEW FEATURES — ADDED THIS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Five features that make the science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205740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06654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Every candidate shows a VQE prediction confidence badge: High (≥82%) / Medium (70–81%) / Low (&lt;70%). Real scientific </a:t>
            </a:r>
            <a:r>
              <a:rPr sz="1100" b="1">
                <a:solidFill>
                  <a:srgbClr val="22D3EE"/>
                </a:solidFill>
                <a:latin typeface="Calibri"/>
              </a:rPr>
              <a:t>AI</a:t>
            </a:r>
            <a:r>
              <a:rPr sz="1100" b="0">
                <a:solidFill>
                  <a:srgbClr val="94A3B8"/>
                </a:solidFill>
                <a:latin typeface="Calibri"/>
              </a:rPr>
              <a:t> exposes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85432" y="205740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06654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45059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Hypothesis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85292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"Why?" button per candidate fires a structured </a:t>
            </a:r>
            <a:r>
              <a:rPr sz="1100" b="1">
                <a:solidFill>
                  <a:srgbClr val="22D3EE"/>
                </a:solidFill>
                <a:latin typeface="Calibri"/>
              </a:rPr>
              <a:t>AI</a:t>
            </a:r>
            <a:r>
              <a:rPr sz="1100" b="0">
                <a:solidFill>
                  <a:srgbClr val="94A3B8"/>
                </a:solidFill>
                <a:latin typeface="Calibri"/>
              </a:rPr>
              <a:t> reasoning prompt: structural factors, root cause of weakest metric, 72h monitoring advice.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82880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43032" y="205740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206654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245059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Scientific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285292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Experiment log upgraded to a memory panel showing learned corrections per dimension with ±values. Every experiment becomes institutional intelligence.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⚗️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443484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444398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2803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Synthesis Feasibility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3036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New column: Readily synth. / Moderate / Complex. Best catalyst ≠ most practical. Demonstrates real engineering maturity to judges.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20624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85432" y="443484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44398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482803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Prediction Delta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523036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After every lab result: Predicted → Measured delta table per dimension. Makes the learning loop tangible, not just described.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206240"/>
            <a:ext cx="3337560" cy="2057400"/>
          </a:xfrm>
          <a:prstGeom prst="rect">
            <a:avLst/>
          </a:prstGeom>
          <a:solidFill>
            <a:srgbClr val="0A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2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43032" y="4434840"/>
            <a:ext cx="502920" cy="201168"/>
          </a:xfrm>
          <a:prstGeom prst="rect">
            <a:avLst/>
          </a:prstGeom>
          <a:solidFill>
            <a:srgbClr val="032214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4443984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NEW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2" y="4828032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/api/memory Endpoint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2" y="5230368"/>
            <a:ext cx="3008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New API endpoint exposes full bias history and model state for external dashboards and SCADA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07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WHAT THE CANDIDATES TABLE NOW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Scientific rigour, visible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9829800" cy="347472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105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105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1810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810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Confidence 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1810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Feasibility 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18105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8105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1810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Actions 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84832"/>
            <a:ext cx="982980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GPS-001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286000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K₂CO₃-Alumina Sorbent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86000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286000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286000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Readily synth.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86000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96.3%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86000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Calibri"/>
              </a:rPr>
              <a:t>90.8%  ★ 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286000"/>
            <a:ext cx="566928" cy="310896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322576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Load 3D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286000"/>
            <a:ext cx="566928" cy="310896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322576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Why?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889504"/>
            <a:ext cx="9829800" cy="804672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90672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GEN-bu-4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09067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K₂CO₃ Alloy Variant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3090672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generative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090672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090672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Moderate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90672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91.2%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090672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86.1%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090672"/>
            <a:ext cx="566928" cy="310896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127248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Load 3D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3090672"/>
            <a:ext cx="566928" cy="310896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3127248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Why?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694176"/>
            <a:ext cx="982980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895344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GPS-003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389534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ZnO Desulph. Guard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3895344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3895344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895344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Readily synth.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3895344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78.4%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895344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73.2%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3895344"/>
            <a:ext cx="566928" cy="310896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393192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Load 3D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895344"/>
            <a:ext cx="566928" cy="310896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393192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Why?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498848"/>
            <a:ext cx="9829800" cy="804672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700016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GEN-bu-2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470001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CaO Alloy Variant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40" y="4700016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generative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4700016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Calibri"/>
              </a:rPr>
              <a:t>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4700016"/>
            <a:ext cx="1124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Calibri"/>
              </a:rPr>
              <a:t>Complex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4700016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Calibri"/>
              </a:rPr>
              <a:t>61.5%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4700016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59.4%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700016"/>
            <a:ext cx="566928" cy="310896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473659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Load 3D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4700016"/>
            <a:ext cx="566928" cy="310896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473659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Why?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637A"/>
                </a:solidFill>
                <a:latin typeface="Calibri"/>
              </a:rPr>
              <a:t>✦ New columns added in this sprint — Confidence, Feasibility, Hypothesis "Why?" button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08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SCIENTIFIC MEMORY — CLOSED-LOOP LEARNING MADE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Every experiment becomes institutional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Model tracks per-dimension bias corrections — activity, selectivity, and stability adjusted independently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70048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7860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Each feedback round stores a timestamped bias snapshot — full model evolution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419855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328415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Corrections applied to all future pipeline runs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69664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7822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/api/memory endpoint exposes full model state for external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37360"/>
            <a:ext cx="521208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✓  Model has learned from 3 experiments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395728"/>
            <a:ext cx="1463040" cy="822960"/>
          </a:xfrm>
          <a:prstGeom prst="rect">
            <a:avLst/>
          </a:prstGeom>
          <a:solidFill>
            <a:srgbClr val="06121E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487168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37A"/>
                </a:solidFill>
                <a:latin typeface="Calibri"/>
              </a:rPr>
              <a:t>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2491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ourier New"/>
              </a:rPr>
              <a:t>+1.8%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95728"/>
            <a:ext cx="1463040" cy="822960"/>
          </a:xfrm>
          <a:prstGeom prst="rect">
            <a:avLst/>
          </a:prstGeom>
          <a:solidFill>
            <a:srgbClr val="06121E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487168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37A"/>
                </a:solidFill>
                <a:latin typeface="Calibri"/>
              </a:rPr>
              <a:t>Selectivity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72491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ourier New"/>
              </a:rPr>
              <a:t>+0.5%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395728"/>
            <a:ext cx="1463040" cy="822960"/>
          </a:xfrm>
          <a:prstGeom prst="rect">
            <a:avLst/>
          </a:prstGeom>
          <a:solidFill>
            <a:srgbClr val="06121E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2487168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37A"/>
                </a:solidFill>
                <a:latin typeface="Calibri"/>
              </a:rPr>
              <a:t>Stability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272491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7171"/>
                </a:solidFill>
                <a:latin typeface="Courier New"/>
              </a:rPr>
              <a:t>−0.3%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101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637A"/>
                </a:solidFill>
                <a:latin typeface="Calibri"/>
              </a:rPr>
              <a:t>Corrections applied to all future predictions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114800"/>
            <a:ext cx="5212080" cy="2194560"/>
          </a:xfrm>
          <a:prstGeom prst="rect">
            <a:avLst/>
          </a:prstGeom>
          <a:solidFill>
            <a:srgbClr val="0A142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611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PREDICTION DELTA — After bench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268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62686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88.9%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26864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62686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91.0%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62686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+2.1%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38927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Selectivity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13892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79.4%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38927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13892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97.0%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5138927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+17.6%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6509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Stability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65099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73.1%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650992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65099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88.0%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56509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+14.9%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09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What sets this apart from every other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922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QuantumCatalyst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922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Most other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56692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Feedback loop that actually updates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Bayesian bias update per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One-shot prediction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11064240" cy="566928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157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Exposes prediction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715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High / Medium / Low confidence per 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15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Single score, no uncertainty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91256"/>
            <a:ext cx="11064240" cy="56692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Explains why a candidate performs as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826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Hypothesis Engine — </a:t>
            </a:r>
            <a:r>
              <a:rPr sz="1100" b="1">
                <a:solidFill>
                  <a:srgbClr val="22D3EE"/>
                </a:solidFill>
                <a:latin typeface="Calibri"/>
              </a:rPr>
              <a:t>AI</a:t>
            </a:r>
            <a:r>
              <a:rPr sz="1100" b="1">
                <a:solidFill>
                  <a:srgbClr val="10B981"/>
                </a:solidFill>
                <a:latin typeface="Calibri"/>
              </a:rPr>
              <a:t> reasoning on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826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No explanation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58184"/>
            <a:ext cx="11064240" cy="566928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4962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Accounts for synthesis practicality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8496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Feasibility column — best ≠ most pilotable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496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Ignores real-world synthesis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11064240" cy="56692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416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Scientific memory across experiments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4165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Per-dimension bias history + prediction delta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4165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No memory, no provenance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92040"/>
            <a:ext cx="11064240" cy="566928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Domain-specific reaction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983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4 pre-seeded reactions, 6 seeded catalysts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83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Generic chemistry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58968"/>
            <a:ext cx="11064240" cy="56692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5504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Human-in-the-loop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550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</a:t>
            </a:r>
            <a:r>
              <a:rPr sz="1100" b="1">
                <a:solidFill>
                  <a:srgbClr val="22D3EE"/>
                </a:solidFill>
                <a:latin typeface="Calibri"/>
              </a:rPr>
              <a:t>AI</a:t>
            </a:r>
            <a:r>
              <a:rPr sz="1100" b="1">
                <a:solidFill>
                  <a:srgbClr val="10B981"/>
                </a:solidFill>
                <a:latin typeface="Calibri"/>
              </a:rPr>
              <a:t> accelerates — humans decide final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550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Claims autonomous science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025896"/>
            <a:ext cx="11064240" cy="566928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1173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Works without any API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61173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✓ Deterministic fallback engine always runs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1173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637A"/>
                </a:solidFill>
                <a:latin typeface="Calibri"/>
              </a:rPr>
              <a:t>✗ Breaks without cloud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10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10-minute pitch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647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7647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Line to land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585216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396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0:00–1:00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Landing page — 3D rotating catalyst lattice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031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"This is the OS for catalyst discovery. That 3D structure is a Cu-Zn alloy we'll rank in 30 seconds."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11064240" cy="585216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24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1:00–2:00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883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Open /app — Pipeline Control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688336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"Select Biogas Upgrading. Conditions auto-fill: 25°C, 5–10 bar, raw biogas with 2% H₂S."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82112"/>
            <a:ext cx="11064240" cy="585216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101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2:00–3:30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735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Hit Run Discovery — 6-step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27355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"Retrieval → </a:t>
            </a:r>
            <a:r>
              <a:rPr sz="1000" b="1">
                <a:solidFill>
                  <a:srgbClr val="22D3EE"/>
                </a:solidFill>
                <a:latin typeface="Calibri"/>
              </a:rPr>
              <a:t>Quantum</a:t>
            </a:r>
            <a:r>
              <a:rPr sz="1000" b="0">
                <a:solidFill>
                  <a:srgbClr val="94A3B8"/>
                </a:solidFill>
                <a:latin typeface="Calibri"/>
              </a:rPr>
              <a:t> simulation → Generative design → Ranking. Under a second. Real lab: 6–18 months."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67328"/>
            <a:ext cx="11064240" cy="585216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3:30–4:30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8587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Candidates table — new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858768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"Confidence: High. Feasibility: Readily synth. The </a:t>
            </a:r>
            <a:r>
              <a:rPr sz="1000" b="1">
                <a:solidFill>
                  <a:srgbClr val="22D3EE"/>
                </a:solidFill>
                <a:latin typeface="Calibri"/>
              </a:rPr>
              <a:t>AI</a:t>
            </a:r>
            <a:r>
              <a:rPr sz="1000" b="0">
                <a:solidFill>
                  <a:srgbClr val="94A3B8"/>
                </a:solidFill>
                <a:latin typeface="Calibri"/>
              </a:rPr>
              <a:t> ranks AND tells you how sure it is about each."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52544"/>
            <a:ext cx="11064240" cy="585216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4:30–5:00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4398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Click 'Why?' on second-ranked candidate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443984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"Hypothesis Engine: </a:t>
            </a:r>
            <a:r>
              <a:rPr sz="1000" b="1">
                <a:solidFill>
                  <a:srgbClr val="22D3EE"/>
                </a:solidFill>
                <a:latin typeface="Calibri"/>
              </a:rPr>
              <a:t>AI</a:t>
            </a:r>
            <a:r>
              <a:rPr sz="1000" b="0">
                <a:solidFill>
                  <a:srgbClr val="94A3B8"/>
                </a:solidFill>
                <a:latin typeface="Calibri"/>
              </a:rPr>
              <a:t> explains structural root cause of underperformance + what to fix."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37760"/>
            <a:ext cx="11064240" cy="585216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065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5:00–6:30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3D viewer + </a:t>
            </a:r>
            <a:r>
              <a:rPr sz="1100" b="1">
                <a:solidFill>
                  <a:srgbClr val="22D3EE"/>
                </a:solidFill>
                <a:latin typeface="Calibri"/>
              </a:rPr>
              <a:t>AI</a:t>
            </a:r>
            <a:r>
              <a:rPr sz="1100" b="0">
                <a:solidFill>
                  <a:srgbClr val="E2E8F0"/>
                </a:solidFill>
                <a:latin typeface="Calibri"/>
              </a:rPr>
              <a:t> Copilot inline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0292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"The </a:t>
            </a:r>
            <a:r>
              <a:rPr sz="1000" b="1">
                <a:solidFill>
                  <a:srgbClr val="22D3EE"/>
                </a:solidFill>
                <a:latin typeface="Calibri"/>
              </a:rPr>
              <a:t>AI</a:t>
            </a:r>
            <a:r>
              <a:rPr sz="1000" b="0">
                <a:solidFill>
                  <a:srgbClr val="94A3B8"/>
                </a:solidFill>
                <a:latin typeface="Calibri"/>
              </a:rPr>
              <a:t> already wrote the 3-step experiment plan. Engineers know exactly what to do next."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22976"/>
            <a:ext cx="11064240" cy="585216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7:00–8:30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61441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Submit lab result → delta + Scientific 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614416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"Predicted 88.9% — lab measured 91.0%. Model corrects itself. Scientific Memory shows the learned correction."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108192"/>
            <a:ext cx="11064240" cy="585216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236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urier New"/>
              </a:rPr>
              <a:t>8:30–10:00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61996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Switch reaction + pricing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619963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"Same platform, different reaction. Ni-CeO₂ surfaces top. Four reactions. One interface."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11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Built to be upgraded, not rewritten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256032"/>
          </a:xfrm>
          <a:prstGeom prst="rect">
            <a:avLst/>
          </a:prstGeom>
          <a:solidFill>
            <a:srgbClr val="041A1D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14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Node.js + Express — pipeline orchestration, dual-provider LLM routing (Open</a:t>
            </a:r>
            <a:r>
              <a:rPr sz="1200" b="1">
                <a:solidFill>
                  <a:srgbClr val="22D3EE"/>
                </a:solidFill>
                <a:latin typeface="Calibri"/>
              </a:rPr>
              <a:t>AI</a:t>
            </a:r>
            <a:r>
              <a:rPr sz="1200" b="0">
                <a:solidFill>
                  <a:srgbClr val="94A3B8"/>
                </a:solidFill>
                <a:latin typeface="Calibri"/>
              </a:rPr>
              <a:t> + Gemini), Bayesian feedback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834639"/>
            <a:ext cx="1051560" cy="256032"/>
          </a:xfrm>
          <a:prstGeom prst="rect">
            <a:avLst/>
          </a:prstGeom>
          <a:solidFill>
            <a:srgbClr val="110B1E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62071"/>
            <a:ext cx="1014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834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Vanilla HTML/CSS/JS + Next.js 15 marketing page. 3Dmol.js for molecular viewer.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886200"/>
            <a:ext cx="1051560" cy="256032"/>
          </a:xfrm>
          <a:prstGeom prst="rect">
            <a:avLst/>
          </a:prstGeom>
          <a:solidFill>
            <a:srgbClr val="0217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913632"/>
            <a:ext cx="1014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Open</a:t>
            </a:r>
            <a:r>
              <a:rPr sz="1200" b="1">
                <a:solidFill>
                  <a:srgbClr val="22D3EE"/>
                </a:solidFill>
                <a:latin typeface="Calibri"/>
              </a:rPr>
              <a:t>AI</a:t>
            </a:r>
            <a:r>
              <a:rPr sz="1200" b="0">
                <a:solidFill>
                  <a:srgbClr val="94A3B8"/>
                </a:solidFill>
                <a:latin typeface="Calibri"/>
              </a:rPr>
              <a:t> GPT-4o / Gemini 1.5–2.0 Flash. Auto-detect from key prefix. Deterministic fallback — always works offline.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937759"/>
            <a:ext cx="1051560" cy="256032"/>
          </a:xfrm>
          <a:prstGeom prst="rect">
            <a:avLst/>
          </a:prstGeom>
          <a:solidFill>
            <a:srgbClr val="1E1301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965191"/>
            <a:ext cx="1014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Quantum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9377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VQE abstraction with identical API contract to Qiskit Runtime. Drop-in real quantum backend — zero frontend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06440"/>
            <a:ext cx="11091672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989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D3EE"/>
                </a:solidFill>
                <a:latin typeface="Courier New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API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989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5CF6"/>
                </a:solidFill>
                <a:latin typeface="Courier New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Seeded catalysts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989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Reactions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989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ourier New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AI providers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719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Upgrade path to 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212848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Real quantum backend: swap runVqeLikeEnergyProfile() for Qiskit Runtime — zero UI changes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71215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7614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Persistent model: replace in-memory feedback with PostgreSQL + Prisma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529584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198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Live SCADA integration: connect Pipeline Input to plant sensors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187952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0782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Multi-user auth: add NextAuth.js — individual experiment histories per engineer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846320"/>
            <a:ext cx="54864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736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Real DFT data: plug in Open Catalyst Project (1.2M calculations) as retrieval backbone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637A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Calibri"/>
              </a:rPr>
              <a:t>THE PITCH IN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Calibri"/>
              </a:rPr>
              <a:t>We're designing an </a:t>
            </a:r>
            <a:r>
              <a:rPr sz="2600" b="1">
                <a:solidFill>
                  <a:srgbClr val="22D3EE"/>
                </a:solidFill>
                <a:latin typeface="Calibri"/>
              </a:rPr>
              <a:t>AI</a:t>
            </a:r>
            <a:r>
              <a:rPr sz="2600" b="1">
                <a:solidFill>
                  <a:srgbClr val="E2E8F0"/>
                </a:solidFill>
                <a:latin typeface="Calibri"/>
              </a:rPr>
              <a:t>-native R&amp;D operating system that combines generative design, predictive modelling, experimental feedback, and collaborative scientific workflows into a continuously improving discovery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91840"/>
            <a:ext cx="54864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Calibri"/>
              </a:rPr>
              <a:t>The real bottleneck in catalyst and pathway discovery is not lack of data — it's the inability to efficiently convert experimental outcomes into continuously improving scientific intelligence. Our platform is designed to close that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34840"/>
            <a:ext cx="11091672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WHAT JUDGES WILL REMEMBER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065776"/>
            <a:ext cx="6400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983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Feedback loops that visibly learn from lab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449824"/>
            <a:ext cx="6400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Scientific memory — not just logs, but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833872"/>
            <a:ext cx="6400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57515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Explainable </a:t>
            </a:r>
            <a:r>
              <a:rPr sz="1200" b="1">
                <a:solidFill>
                  <a:srgbClr val="22D3EE"/>
                </a:solidFill>
                <a:latin typeface="Calibri"/>
              </a:rPr>
              <a:t>AI</a:t>
            </a:r>
            <a:r>
              <a:rPr sz="1200" b="0">
                <a:solidFill>
                  <a:srgbClr val="94A3B8"/>
                </a:solidFill>
                <a:latin typeface="Calibri"/>
              </a:rPr>
              <a:t> — not just scores, but reasoning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17920"/>
            <a:ext cx="6400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61356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Deployment realism — uncertainty, feasibility, fallbacks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637A"/>
                </a:solidFill>
                <a:latin typeface="Calibri"/>
              </a:rPr>
              <a:t>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alibri"/>
              </a:rPr>
              <a:t>Live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9834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urier New"/>
              </a:rPr>
              <a:t>quantum-catalyst-ai.vercel.app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4955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alibri"/>
              </a:rP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5495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urier New"/>
              </a:rPr>
              <a:t>github.com/d2Anubis/QuantumCatalyst-AI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007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637A"/>
                </a:solidFill>
                <a:latin typeface="Calibri"/>
              </a:rPr>
              <a:t>Free AI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60076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urier New"/>
              </a:rPr>
              <a:t>aistudio.google.com/apikey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