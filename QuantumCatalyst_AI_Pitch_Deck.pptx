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6400800" cy="457200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-914400"/>
            <a:ext cx="6400800" cy="4572000"/>
          </a:xfrm>
          <a:prstGeom prst="rect">
            <a:avLst/>
          </a:prstGeom>
          <a:solidFill>
            <a:srgbClr val="120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508760"/>
            <a:ext cx="9418320" cy="329184"/>
          </a:xfrm>
          <a:prstGeom prst="rect">
            <a:avLst/>
          </a:prstGeom>
          <a:solidFill>
            <a:srgbClr val="041424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4752" y="1536192"/>
            <a:ext cx="9272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⬡  THE OPERATING SYSTEM FOR CATALYST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QuantumCatalyst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Designing the Catalysts That Power the Future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43400"/>
            <a:ext cx="10360152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Calibri"/>
              </a:rPr>
              <a:t>10×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074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637A"/>
                </a:solidFill>
                <a:latin typeface="Calibri"/>
              </a:rPr>
              <a:t>Faster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572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Calibri"/>
              </a:rPr>
              <a:t>37%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074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637A"/>
                </a:solidFill>
                <a:latin typeface="Calibri"/>
              </a:rPr>
              <a:t>Error Reduction vs DFT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572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Calibri"/>
              </a:rPr>
              <a:t>12,438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074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637A"/>
                </a:solidFill>
                <a:latin typeface="Calibri"/>
              </a:rPr>
              <a:t>Catalysts Simulated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4572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Calibri"/>
              </a:rPr>
              <a:t>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074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637A"/>
                </a:solidFill>
                <a:latin typeface="Calibri"/>
              </a:rPr>
              <a:t>Not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637A"/>
                </a:solidFill>
                <a:latin typeface="Calibri"/>
              </a:rPr>
              <a:t>Quantum Chemistry  ·  Generative AI  ·  Continuous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Catalyst Discovery Is Slow, Expensive, and Inaccurate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The world needs new catalysts for sustainable fuels, carbon capture, and green chemistry — but the current process is broken.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11155680" cy="6858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6–18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35915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to screen a single catalyst lead using traditional methods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99232"/>
            <a:ext cx="11155680" cy="6858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3639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$2–5M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16382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average cost per catalyst development cycle before 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03904"/>
            <a:ext cx="11155680" cy="6858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03904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~30% error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96849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 classical DFT models for transition-metal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08576"/>
            <a:ext cx="11155680" cy="6858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608576"/>
            <a:ext cx="6400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457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No feedback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77316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experiments rarely feed back into the next design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13248"/>
            <a:ext cx="11155680" cy="6858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13248"/>
            <a:ext cx="6400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50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Expert bottleneck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577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requires rare cross-disciplinary chemistry + computation expertise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  <a:latin typeface="Calibri"/>
              </a:rPr>
              <a:t>Result: a multi-billion-dollar bottleneck blocking the scale-up of sustainable aviation fuel, CO₂ conversion, and green chemistry.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Three Pillars. One Unified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QuantumCatalyst AI combines quantum chemistry, generative AI, and continuous experimental learning into a single discovery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3639312" cy="338328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9077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Quantum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383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VQE circuits evaluate transition-metal energy landscapes with 37% lower error than classical DFT approximations.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194560"/>
            <a:ext cx="3639312" cy="338328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9077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Generative AI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383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Diffusion-driven molecular generation proposes novel catalyst structures under activity, stability, and cost constraints.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2194560"/>
            <a:ext cx="3639312" cy="338328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  <a:latin typeface="Calibri"/>
              </a:rPr>
              <a:t>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9077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Feedback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383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Every experiment updates the model. Each run compounds predictive accuracy through Bayesian bias correction.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60720"/>
            <a:ext cx="11155680" cy="804672"/>
          </a:xfrm>
          <a:prstGeom prst="rect">
            <a:avLst/>
          </a:prstGeom>
          <a:solidFill>
            <a:srgbClr val="04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33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10×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36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Faster screening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5833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37%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6236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Error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5833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12,438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6236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Catalysts simulated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5833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6236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Not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5833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↑ Continuous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6236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Learning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Six-Step Quantum-AI Discovery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737360"/>
            <a:ext cx="1847088" cy="41605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384048" cy="384048"/>
          </a:xfrm>
          <a:prstGeom prst="rect">
            <a:avLst/>
          </a:prstGeom>
          <a:solidFill>
            <a:srgbClr val="05081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2395728"/>
            <a:ext cx="1591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Reaction
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889504"/>
            <a:ext cx="15910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Configure feedstock, targets, constraints, operating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3474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1737360"/>
            <a:ext cx="1847088" cy="41605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1901952"/>
            <a:ext cx="384048" cy="384048"/>
          </a:xfrm>
          <a:prstGeom prst="rect">
            <a:avLst/>
          </a:prstGeom>
          <a:solidFill>
            <a:srgbClr val="05081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2395728"/>
            <a:ext cx="1591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Database
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2889504"/>
            <a:ext cx="15910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Neural retrieval fuses OCP, BRENDA &amp; proprietary catalyst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3474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737360"/>
            <a:ext cx="1847088" cy="41605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901952"/>
            <a:ext cx="384048" cy="384048"/>
          </a:xfrm>
          <a:prstGeom prst="rect">
            <a:avLst/>
          </a:prstGeom>
          <a:solidFill>
            <a:srgbClr val="05081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395728"/>
            <a:ext cx="1591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Quantum
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2889504"/>
            <a:ext cx="15910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VQE circuits compute ground-state energies with high fidelity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3474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737360"/>
            <a:ext cx="1847088" cy="41605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901952"/>
            <a:ext cx="384048" cy="384048"/>
          </a:xfrm>
          <a:prstGeom prst="rect">
            <a:avLst/>
          </a:prstGeom>
          <a:solidFill>
            <a:srgbClr val="05081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395728"/>
            <a:ext cx="1591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Generative
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889504"/>
            <a:ext cx="15910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Diffusion model proposes novel structures in latent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3474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1737360"/>
            <a:ext cx="1847088" cy="41605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901952"/>
            <a:ext cx="384048" cy="384048"/>
          </a:xfrm>
          <a:prstGeom prst="rect">
            <a:avLst/>
          </a:prstGeom>
          <a:solidFill>
            <a:srgbClr val="05081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2395728"/>
            <a:ext cx="1591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Multi-objective
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4" y="2889504"/>
            <a:ext cx="15910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Pareto ranking across yield, selectivity, stability,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3474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85248" y="1737360"/>
            <a:ext cx="1847088" cy="41605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1901952"/>
            <a:ext cx="384048" cy="384048"/>
          </a:xfrm>
          <a:prstGeom prst="rect">
            <a:avLst/>
          </a:prstGeom>
          <a:solidFill>
            <a:srgbClr val="05081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2395728"/>
            <a:ext cx="1591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Feedback
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2889504"/>
            <a:ext cx="15910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Experiment results update model biases — compounding 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081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637A"/>
                </a:solidFill>
                <a:latin typeface="Calibri"/>
              </a:rPr>
              <a:t>Every step is modular and replaceable — swap in real quantum backends (Qiskit / PennyLane / Amazon Braket) without changing the UI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Quantum Simulation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6492240" cy="425196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Why Quantum?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Classical DFT (Density Functional Theory) approximates electron correlation — leading to systematic errors that compound most severely in transition-metal catalysts, which are exactly the materials we care about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VQE (Variational Quantum Eigensolver) evaluates the true ground-state energy by minimising: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49039"/>
            <a:ext cx="5943600" cy="566928"/>
          </a:xfrm>
          <a:prstGeom prst="rect">
            <a:avLst/>
          </a:prstGeom>
          <a:solidFill>
            <a:srgbClr val="00041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  <a:latin typeface="Calibri"/>
              </a:rPr>
              <a:t>E(θ) = ⟨ψ(θ)| Ĥ |ψ(θ)⟩   →   min_θ E(θ)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4398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637A"/>
                </a:solidFill>
                <a:latin typeface="Calibri"/>
              </a:rPr>
              <a:t>Our VQE module is architected to be a drop-in wrapper — real quantum backends can replace the classical abstraction with zero UI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83080"/>
            <a:ext cx="2176272" cy="192024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947672"/>
            <a:ext cx="19568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2D3EE"/>
                </a:solidFill>
                <a:latin typeface="Calibri"/>
              </a:rPr>
              <a:t>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9748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Error reduction
vs classical DFT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80" y="1783080"/>
            <a:ext cx="2176272" cy="192024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5207" y="1947672"/>
            <a:ext cx="19568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Calibri"/>
              </a:rPr>
              <a:t>+42%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7" y="269748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Transition-metal
fidelity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977639"/>
            <a:ext cx="2176272" cy="1920240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4142231"/>
            <a:ext cx="19568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  <a:latin typeface="Calibri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89204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Active qubits
in VQE register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3977639"/>
            <a:ext cx="2176272" cy="192024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7" y="4142231"/>
            <a:ext cx="19568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6,144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7" y="489204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Hamiltonian terms
computed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Generative Design + Conversational AI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5440680" cy="443484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Generative Catalyst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Diffusion-driven molecular generation in learned catalyst latent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815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Proposes 6 novel structures per pipeline run from top database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398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Explores chemical regions not covered by known catalyst databases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3982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Each variant is scored by the same VQE pipeline — ensuring physical validity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1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Novelty score tracks structural diversity from known compounds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440680" cy="443484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38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AI Copilot (GPT-4o Powered)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4231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Conversational interface — ask anything about pipeline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815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Full pipeline context injected: top candidates, scores, reaction, use-case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7398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Pre-built suggestion chips: 'Best catalyst?', 'Explain VQE', 'Next steps'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3982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Graceful offline fallback — deterministic insights without any API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5056631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Settings panel: bring your own OpenAI key, choose model (4o-mini / 4o)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71500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Auto-analysis mode: AI summary generated after every pipeline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solidFill>
            <a:srgbClr val="04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6480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B637A"/>
                </a:solidFill>
                <a:latin typeface="Calibri"/>
              </a:rPr>
              <a:t>Zero lock-in: works fully without an API key. AI layer enhances but never blocks the core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LIVE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Ethanol → Jet Fuel: Pipeline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Reaction: Ethanol to Jet Fuel  ·  Use-case: Cost-sensitive pilot with high selectivity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121408" cy="1024128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CAT-003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Top Candidate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2344" y="2011680"/>
            <a:ext cx="2121408" cy="1024128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4" y="210312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87.8%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784" y="26060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Activity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1768" y="2011680"/>
            <a:ext cx="2121408" cy="1024128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210312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96.6%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26060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Selectivity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2011680"/>
            <a:ext cx="2121408" cy="1024128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210312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88.9%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6060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0616" y="2011680"/>
            <a:ext cx="2121408" cy="1024128"/>
          </a:xfrm>
          <a:prstGeom prst="rect">
            <a:avLst/>
          </a:prstGeom>
          <a:solidFill>
            <a:srgbClr val="0B10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92056" y="210312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90.7%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6" y="26060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Composite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00400"/>
            <a:ext cx="11155680" cy="347472"/>
          </a:xfrm>
          <a:prstGeom prst="rect">
            <a:avLst/>
          </a:prstGeom>
          <a:solidFill>
            <a:srgbClr val="08183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Selectivity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Stability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246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637A"/>
                </a:solidFill>
                <a:latin typeface="Calibri"/>
              </a:rPr>
              <a:t>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11880"/>
            <a:ext cx="11155680" cy="457200"/>
          </a:xfrm>
          <a:prstGeom prst="rect">
            <a:avLst/>
          </a:prstGeom>
          <a:solidFill>
            <a:srgbClr val="061222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GEN-E-5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Fe-Co Alloy Var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  <a:latin typeface="Calibri"/>
              </a:rPr>
              <a:t>generative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86.1%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96.2%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88.9%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91.6%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05656"/>
            <a:ext cx="11155680" cy="4572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CAT-003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NiMo Sulfide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  <a:latin typeface="Calibri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87.8%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96.6%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88.9%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90.7%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599432"/>
            <a:ext cx="11155680" cy="457200"/>
          </a:xfrm>
          <a:prstGeom prst="rect">
            <a:avLst/>
          </a:prstGeom>
          <a:solidFill>
            <a:srgbClr val="061222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GEN-E-4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Fe-Co Alloy Var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  <a:latin typeface="Calibri"/>
              </a:rPr>
              <a:t>generative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84.7%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92.3%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85.1%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88.5%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093208"/>
            <a:ext cx="11155680" cy="45720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CAT-004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RuTi Oxide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  <a:latin typeface="Calibri"/>
              </a:rPr>
              <a:t>database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82.1%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90.4%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83.7%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5184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86.1%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586984"/>
            <a:ext cx="11155680" cy="457200"/>
          </a:xfrm>
          <a:prstGeom prst="rect">
            <a:avLst/>
          </a:prstGeom>
          <a:solidFill>
            <a:srgbClr val="061222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CAT-002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FeCo Zeolite Comp.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  <a:latin typeface="Calibri"/>
              </a:rPr>
              <a:t>database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78.4%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88.9%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80.5%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82.4%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1722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637A"/>
                </a:solidFill>
                <a:latin typeface="Calibri"/>
              </a:rPr>
              <a:t>Top-ranked candidate sent to 3D viewer automatically. Click 'Load 3D' in any row to inspect the molecular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CONTINUOUS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Experimental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Every lab result tightens the model. The system learns from every experiment — compounding accuracy round by 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103120"/>
            <a:ext cx="2176272" cy="100584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2212848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Run
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245059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2" y="2103120"/>
            <a:ext cx="2176272" cy="1005840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212848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Select &amp;
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245059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2103120"/>
            <a:ext cx="2176272" cy="100584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2212848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Submit
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245059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103120"/>
            <a:ext cx="2176272" cy="100584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2212848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Model
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45059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47504" y="2103120"/>
            <a:ext cx="2176272" cy="1005840"/>
          </a:xfrm>
          <a:prstGeom prst="rect">
            <a:avLst/>
          </a:prstGeom>
          <a:solidFill>
            <a:srgbClr val="0B10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2212848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Re-rank
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24612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Candidates ranked by quantum + AI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324612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Lab runs top 2–3 candidates in bench experiment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324612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Measured yield, selectivity, stability entered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4612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Bayesian bias correction applied in 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324612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Next pipeline run incorporates learned corrections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14800"/>
            <a:ext cx="5303520" cy="2395728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What Gets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6344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Activity bias correction (yield delta)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0292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Selectivity bias (purity delta)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9495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Stability bias (lifetime delta)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7607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Bias clamped to ±0.5 to prevent over-fitting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12647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Learning rate: 0.08 per round (tunable)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114800"/>
            <a:ext cx="5303520" cy="2395728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Roadmap: Full Retraining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6344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Current: online bias updates (instant)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0292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Phase 2: full Bayesian re-train on log batch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539495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Phase 3: active learning — suggest next experiment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7607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Phase 4: multi-reaction shared embeddings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612647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Plug-in: replace with GP surrogate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Production-Grade Full-Stack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5577840" cy="233172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1109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Marketing &amp; 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2951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Next.js 15 + 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4261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R3F / Three.js (WebGL particles, wireframe icosahedra)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900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GSAP ScrollTrigger animations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Framer Motion micro-interactions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850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Space Grotesk + Inter typography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5577840" cy="2331720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91109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2951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Vanilla HTML/CSS/JS (zero framework overhead)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264261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3Dmol.js — real-time 3D molecular 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9900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AI Chat panel (streaming typing indicator)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Settings panel with localStorage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36850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CSV export, toast system, status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70248"/>
            <a:ext cx="5577840" cy="233172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3982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Backend &amp;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7823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Node.js + Express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12978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REST: /api/reactions, /pipeline/run, /feedback, /chat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4772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OpenAI GPT-4o / 4o-mini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247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X-Api-Key header passthrough (BYOK model)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6172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Port auto-retry (4000 → 4001 → …)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4270248"/>
            <a:ext cx="5577840" cy="233172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43982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Data &amp; ML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1" y="47823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catalysts.json — seeded catalyst database (5 base + 6 generative)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1" y="512978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experiment_logs.json — append-only 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1" y="54772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VQE-like energy profiling (deterministic noise)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58247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Bayesian bias correction feedback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1" y="6172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Plug-in interfaces for Qiskit / PennyLane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Platform for Every Sustainable Chemistry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5577840" cy="141732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653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✈  Sustainable Aviation Fuel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24942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India's SAF mandate — 1% blend by 2027, 5% by 2030. $15B 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1737360"/>
            <a:ext cx="5577840" cy="141732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8653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🌿  CO₂ → Methanol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1" y="224942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Carbon utilisation is a $200B+ investment pipeline globally.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10128"/>
            <a:ext cx="5577840" cy="1417320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381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⚡  Green Hydrogen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822191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Catalyst selectivity is the #1 cost bottleneck in electrolysis.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3310128"/>
            <a:ext cx="5577840" cy="141732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34381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🧬  Synthetic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3822191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Enzyme + pathway optimisation for bio-based fuels and chemicals.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82896"/>
            <a:ext cx="5577840" cy="141732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010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♻  Carbon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53949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Novel adsorbent and catalyst materials for DAC and point-source.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4882896"/>
            <a:ext cx="5577840" cy="1417320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1" y="5010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⚙  Petrochemical Optim.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53949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Retrofit existing refinery catalysts for lower emissions &amp;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55680" cy="237744"/>
          </a:xfrm>
          <a:prstGeom prst="rect">
            <a:avLst/>
          </a:prstGeom>
          <a:solidFill>
            <a:srgbClr val="04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Global catalyst market: $35B+  ·  SAF: $15B by 2030  ·  Carbon capture: $200B investment pipeline  ·  Green hydrogen: $500B by 2035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WHY QUANTUMCATALYST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Competitive Differentiation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55648"/>
            <a:ext cx="11155680" cy="402336"/>
          </a:xfrm>
          <a:prstGeom prst="rect">
            <a:avLst/>
          </a:prstGeom>
          <a:solidFill>
            <a:srgbClr val="08183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B637A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013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Traditional
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8013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Pure ML
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01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  <a:latin typeface="Calibri"/>
              </a:rPr>
              <a:t>Pure Quantum
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0136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QuantumCatalyst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1155680" cy="54864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2257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6–18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2257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32257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⚡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07208"/>
            <a:ext cx="11155680" cy="548640"/>
          </a:xfrm>
          <a:prstGeom prst="rect">
            <a:avLst/>
          </a:prstGeom>
          <a:solidFill>
            <a:srgbClr val="061222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1693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Electron-correlation fidelity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169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Medium (DFT)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9169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9169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1693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✓ High (VQE)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01568"/>
            <a:ext cx="11155680" cy="54864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112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Novel candidate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1129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51129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Partial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5112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1129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✓ Diffusion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95928"/>
            <a:ext cx="11155680" cy="548640"/>
          </a:xfrm>
          <a:prstGeom prst="rect">
            <a:avLst/>
          </a:prstGeom>
          <a:solidFill>
            <a:srgbClr val="061222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0565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Feedback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10565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10565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Manual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056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0565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✓ Automated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90288"/>
            <a:ext cx="11155680" cy="54864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0001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AI copilot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7000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7000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Limited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700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70001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✓ GPT-4o chat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184648"/>
            <a:ext cx="11155680" cy="548640"/>
          </a:xfrm>
          <a:prstGeom prst="rect">
            <a:avLst/>
          </a:prstGeom>
          <a:solidFill>
            <a:srgbClr val="061222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29437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3D structure 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29437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Separate tool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529437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❌ None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2943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29437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✓ Integrated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779008"/>
            <a:ext cx="11155680" cy="54864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88873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Cost per run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58887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$$$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58887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$$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58887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$$$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88873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$ (cloud-ready)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2362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QuantumCatalyst AI is the only platform combining quantum simulation + generative AI + closed feedback + conversational copilot in a single product.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India's First Ethanol-to-Jet Fuel Catalyst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6858000" cy="4389120"/>
          </a:xfrm>
          <a:prstGeom prst="rect">
            <a:avLst/>
          </a:prstGeom>
          <a:solidFill>
            <a:srgbClr val="0B102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9424"/>
            <a:ext cx="6400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India's SAF mandate targets 1% blend by 2027. The catalyst bottleneck is the single largest technical barrier — no Indian platform existed to accelerate the discovery of ethanol-dehydration / jet-range hydrocarbon catalysts.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55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66744"/>
            <a:ext cx="6400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QuantumCatalyst AI ran a full pipeline: retrieved 5 base catalysts from the database, generated 6 AI-designed variants, applied VQE energy profiling to all 11, and ranked by Pareto-optimal composite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773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84064"/>
            <a:ext cx="6400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NiMo Sulfide (CAT-003) emerged as top performer: Activity 87.8%, Selectivity 96.6%, Stability 88.9%, composite 90.7%. Complete pipeline in under 5 seconds. Feedback loop active.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783080"/>
            <a:ext cx="1901952" cy="2029968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9842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Calibri"/>
              </a:rPr>
              <a:t>10×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69748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Faster than
traditional screening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1783080"/>
            <a:ext cx="1901952" cy="2029968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9842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alibri"/>
              </a:rPr>
              <a:t>&lt; 5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697480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Full pipeline
run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995928"/>
            <a:ext cx="1901952" cy="2029968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197096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910328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Candidates
screened per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3995928"/>
            <a:ext cx="1901952" cy="2029968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4197096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Continuous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910328"/>
            <a:ext cx="1719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Learning after
every experiment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6422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637A"/>
                </a:solidFill>
                <a:latin typeface="Calibri"/>
              </a:rPr>
              <a:t>Synthetic biology module also active: pathway mapping Ethanol → Acetyl-CoA → Fatty alcohol elongation → Jet-range hydrocarbons, with gene-edit suggestions.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From Prototype to Production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691640"/>
            <a:ext cx="2798064" cy="4892040"/>
          </a:xfrm>
          <a:prstGeom prst="rect">
            <a:avLst/>
          </a:prstGeom>
          <a:solidFill>
            <a:srgbClr val="0B10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810512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Phase 1
Now — Q2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2423160"/>
            <a:ext cx="2286000" cy="256032"/>
          </a:xfrm>
          <a:prstGeom prst="rect">
            <a:avLst/>
          </a:prstGeom>
          <a:solidFill>
            <a:srgbClr val="05081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2450591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✓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81635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3 industrial reactions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3346704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VQE simulation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3877056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Generative AI (6 variants/run)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4407408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AI Copilot (GPT-4o)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493776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Feedback loop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546811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3D molecule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5998464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CSV export &amp;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6" y="1691640"/>
            <a:ext cx="2798064" cy="4892040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1810512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Phase 2
Q3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2423160"/>
            <a:ext cx="2286000" cy="256032"/>
          </a:xfrm>
          <a:prstGeom prst="rect">
            <a:avLst/>
          </a:prstGeom>
          <a:solidFill>
            <a:srgbClr val="05081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450591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281635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Real quantum backend (Qiskit / Braket)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3346704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10× more base catalysts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77056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Bayesian full-retraining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407408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Active learning (suggest next exp)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93776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User accounts + project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546811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Shareable pipeline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4" y="1691640"/>
            <a:ext cx="2798064" cy="4892040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1810512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Phase 3
Q4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9944" y="2423160"/>
            <a:ext cx="2286000" cy="256032"/>
          </a:xfrm>
          <a:prstGeom prst="rect">
            <a:avLst/>
          </a:prstGeom>
          <a:solidFill>
            <a:srgbClr val="05081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450591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alibri"/>
              </a:rPr>
              <a:t>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281635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LIMS / ELN connectors (Benchling, etc.)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346704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Multi-reaction shared 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3877056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API SDK for lab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407408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Role-based access + audit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493776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On-prem / private cloud 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46811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Enterprise SSO (SAML / OIDC)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7152" y="1691640"/>
            <a:ext cx="2798064" cy="4892040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1810512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Phase 4
2027+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54312" y="2423160"/>
            <a:ext cx="2286000" cy="256032"/>
          </a:xfrm>
          <a:prstGeom prst="rect">
            <a:avLst/>
          </a:prstGeom>
          <a:solidFill>
            <a:srgbClr val="05081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27464" y="2450591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alibri"/>
              </a:rP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281635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Multi-modal inputs (spectra, XRD)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3346704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Autonomous lab integration (robotics)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3877056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Regulatory compliance module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4407408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Cross-industry catalyst library (global)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493776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Partnerships: pharma, agrochem, battery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2" y="546811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• Series A — full commercialisation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7208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637A"/>
                </a:solidFill>
                <a:latin typeface="Calibri"/>
              </a:rPr>
              <a:t>Architecture is modular by design — each component (quantum, generative, feedback) can be upgraded independently.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SaaS Pricing — Start Free, Scale as You Discover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3493008" cy="4736592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90195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31136"/>
            <a:ext cx="31455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B82F6"/>
                </a:solidFill>
                <a:latin typeface="Calibr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529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For academic &amp; exploratory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27355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3 reaction 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749039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Manual-fallback AI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22452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50 pipeline runs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700016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3D viewer + CSV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175504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Community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755648"/>
            <a:ext cx="3493008" cy="4736592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1572768"/>
            <a:ext cx="1828800" cy="256032"/>
          </a:xfrm>
          <a:prstGeom prst="rect">
            <a:avLst/>
          </a:prstGeom>
          <a:solidFill>
            <a:srgbClr val="082038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1600200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190195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2231136"/>
            <a:ext cx="31455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Calibri"/>
              </a:rPr>
              <a:t>$490/mo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28529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Billed annually · 14-day free trial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327355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Unlimited reactions &amp;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3749039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GPT-4o AI Copilot (BYOK)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1" y="422452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Generative catalyst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4700016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Feedback-loop model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5175504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Priority API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565099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Email + Slack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755648"/>
            <a:ext cx="3493008" cy="4736592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190195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2231136"/>
            <a:ext cx="31455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  <a:latin typeface="Calibri"/>
              </a:rPr>
              <a:t>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28529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637A"/>
                </a:solidFill>
                <a:latin typeface="Calibri"/>
              </a:rPr>
              <a:t>Lab, pilot &amp; industry deployments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327355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Custom reaction 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3749039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On-prem / private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422452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HPC + LIMS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4700016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IP governance + audit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5175504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SLA &amp; dedicated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565099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Volume pricing for consortia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2025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B637A"/>
                </a:solidFill>
                <a:latin typeface="Calibri"/>
              </a:rPr>
              <a:t>All plans include: full source access · API documentation · experiment log export · 3D molecule viewer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⬡  QUANTUMCATALYST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Build the Future of
Sustainable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The operating system for catalyst discovery — quantum-powered, AI-driven, experiment-hardened.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4572000"/>
            <a:ext cx="2816352" cy="1170432"/>
          </a:xfrm>
          <a:prstGeom prst="rect">
            <a:avLst/>
          </a:prstGeom>
          <a:solidFill>
            <a:srgbClr val="0B1020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4681728"/>
            <a:ext cx="2542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Calibri"/>
              </a:rPr>
              <a:t>Launch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51206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localhost:4000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4572000"/>
            <a:ext cx="2816352" cy="1170432"/>
          </a:xfrm>
          <a:prstGeom prst="rect">
            <a:avLst/>
          </a:prstGeom>
          <a:solidFill>
            <a:srgbClr val="0B102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4681728"/>
            <a:ext cx="2542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Book 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51206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demo@quantumcatalyst.ai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2816352" cy="1170432"/>
          </a:xfrm>
          <a:prstGeom prst="rect">
            <a:avLst/>
          </a:prstGeom>
          <a:solidFill>
            <a:srgbClr val="0B102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681728"/>
            <a:ext cx="2542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  <a:latin typeface="Calibri"/>
              </a:rPr>
              <a:t>Partner With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1206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637A"/>
                </a:solidFill>
                <a:latin typeface="Calibri"/>
              </a:rPr>
              <a:t>partnerships@quantumcatalyst.ai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637A"/>
                </a:solidFill>
                <a:latin typeface="Calibri"/>
              </a:rPr>
              <a:t>Quantum Chemistry  ·  Generative AI  ·  Continuous Experimental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058"/>
                </a:solidFill>
                <a:latin typeface="Calibri"/>
              </a:rPr>
              <a:t>© 2026 QuantumCatalyst AI  ·  v1.0 Research Preview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